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82" r:id="rId18"/>
    <p:sldId id="284" r:id="rId19"/>
    <p:sldId id="271" r:id="rId20"/>
    <p:sldId id="277" r:id="rId21"/>
    <p:sldId id="278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489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513D3-4979-CBC5-FDD0-8AFA70AA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99C7E-C51D-708D-C308-27EE2B549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EFEA3-BCF5-B900-7920-94146ED6D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EBF51-9EA7-9133-D748-BB918453F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64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A2AF-14C1-82EB-2FCB-7642B378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E3DC5-0C1C-5F80-4B74-47DB49AED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E6A94-0956-FBC1-62B9-563106795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74E13-A331-7CA7-C663-2E6838071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97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3695D-8F8D-6490-C51B-DE6AD85F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ECBF1-5FBE-6318-458A-ED92F5E22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FB732-57DE-E403-7737-7CA0D16C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9EE9A-3089-9DE7-B161-CA39F0AC2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99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3B60C-2E9C-ABCC-0AF7-179122B3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4D752-591D-CDF9-53B3-BF0C53459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C32CF-E0D2-0718-1867-E8EC023B0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B3732-F84F-4F0C-7315-D5FC5C563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0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828800" y="1242726"/>
            <a:ext cx="54864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7404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🏅 Olympics Data Analysis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799" y="1724495"/>
            <a:ext cx="548640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5F3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Falak Jain (2507013047)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B5F3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Gunjan Goyal (25070123048)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B5F3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Hiranya Bedi (25070123054)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B5F3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Jahnvi Shukla (25070123055)</a:t>
            </a:r>
          </a:p>
        </p:txBody>
      </p:sp>
      <p:sp>
        <p:nvSpPr>
          <p:cNvPr id="11" name="Shape 9"/>
          <p:cNvSpPr/>
          <p:nvPr/>
        </p:nvSpPr>
        <p:spPr>
          <a:xfrm>
            <a:off x="1828800" y="2903216"/>
            <a:ext cx="54864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919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E06AD-0716-40E4-DDA8-6EF8EB3BA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358" y="3108960"/>
            <a:ext cx="3646721" cy="17345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285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83424"/>
            <a:ext cx="402336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411480" cy="74980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007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About the 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487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Data sources, shape &amp; key variables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39538"/>
            <a:ext cx="4023360" cy="8736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75688"/>
            <a:ext cx="41148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854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0519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Purpose of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416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Research objectives &amp; analytical goals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19808"/>
            <a:ext cx="402336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26952"/>
            <a:ext cx="594360" cy="886968"/>
          </a:xfrm>
          <a:prstGeom prst="rect">
            <a:avLst/>
          </a:prstGeom>
          <a:solidFill>
            <a:srgbClr val="0B1F4B"/>
          </a:solidFill>
          <a:ln w="12700">
            <a:noFill/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192" y="31938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7264" y="30318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Data Cleaning Steps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4408" y="3396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How raw data was processed &amp; validated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007786"/>
            <a:ext cx="42062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13937"/>
            <a:ext cx="594360" cy="886968"/>
          </a:xfrm>
          <a:prstGeom prst="rect">
            <a:avLst/>
          </a:prstGeom>
          <a:solidFill>
            <a:srgbClr val="D4A017"/>
          </a:solidFill>
          <a:ln w="12700">
            <a:noFill/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191" y="41819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0116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Data Analysis &amp; EDA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347975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Distributions, trends &amp; statistical insights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093004"/>
            <a:ext cx="4023360" cy="87738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188720"/>
            <a:ext cx="411480" cy="74980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298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1107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India's Performance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1479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India's Olympic journey vs global peers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2029676"/>
            <a:ext cx="4023360" cy="8773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075688"/>
            <a:ext cx="41148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854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20448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Key Conclusions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2416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Major findings from the analysis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3023949"/>
            <a:ext cx="4023360" cy="88968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72600" y="2211132"/>
            <a:ext cx="411480" cy="74980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0389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Policy Implications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49240" y="3375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Actionable recommendations for stakeholders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3997638"/>
            <a:ext cx="4206240" cy="886969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349240" y="40187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What the Analysis Says About India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49240" y="43336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Strategic insights &amp; path forward</a:t>
            </a:r>
            <a:endParaRPr lang="en-US" sz="140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1F1B1A02-617F-C298-07CE-1259CBC07834}"/>
              </a:ext>
            </a:extLst>
          </p:cNvPr>
          <p:cNvSpPr/>
          <p:nvPr/>
        </p:nvSpPr>
        <p:spPr>
          <a:xfrm>
            <a:off x="4671536" y="4000355"/>
            <a:ext cx="594360" cy="886969"/>
          </a:xfrm>
          <a:prstGeom prst="rect">
            <a:avLst/>
          </a:prstGeom>
          <a:solidFill>
            <a:srgbClr val="D4A017"/>
          </a:solidFill>
          <a:ln w="12700">
            <a:noFill/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765835" y="417624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792910FF-8E4B-188D-A1FD-5E2157C81BB7}"/>
              </a:ext>
            </a:extLst>
          </p:cNvPr>
          <p:cNvSpPr/>
          <p:nvPr/>
        </p:nvSpPr>
        <p:spPr>
          <a:xfrm>
            <a:off x="320040" y="2029968"/>
            <a:ext cx="594360" cy="886968"/>
          </a:xfrm>
          <a:prstGeom prst="rect">
            <a:avLst/>
          </a:prstGeom>
          <a:solidFill>
            <a:srgbClr val="D4A017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0092506C-6BA7-90F9-23E3-9AD8B451B83B}"/>
              </a:ext>
            </a:extLst>
          </p:cNvPr>
          <p:cNvSpPr/>
          <p:nvPr/>
        </p:nvSpPr>
        <p:spPr>
          <a:xfrm>
            <a:off x="4671536" y="3026666"/>
            <a:ext cx="594360" cy="886968"/>
          </a:xfrm>
          <a:prstGeom prst="rect">
            <a:avLst/>
          </a:prstGeom>
          <a:solidFill>
            <a:srgbClr val="0B1F4B"/>
          </a:solidFill>
          <a:ln w="12700">
            <a:noFill/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4755832" y="3162397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C829D3C7-45A2-E619-C16E-76AB828D09B9}"/>
              </a:ext>
            </a:extLst>
          </p:cNvPr>
          <p:cNvSpPr/>
          <p:nvPr/>
        </p:nvSpPr>
        <p:spPr>
          <a:xfrm>
            <a:off x="320040" y="1083424"/>
            <a:ext cx="594360" cy="886968"/>
          </a:xfrm>
          <a:prstGeom prst="rect">
            <a:avLst/>
          </a:prstGeom>
          <a:solidFill>
            <a:srgbClr val="0B1F4B"/>
          </a:solidFill>
          <a:ln w="12700">
            <a:noFill/>
            <a:prstDash val="solid"/>
          </a:ln>
        </p:spPr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9434441C-E6A7-B742-5912-D486A50C55EA}"/>
              </a:ext>
            </a:extLst>
          </p:cNvPr>
          <p:cNvSpPr/>
          <p:nvPr/>
        </p:nvSpPr>
        <p:spPr>
          <a:xfrm>
            <a:off x="4675822" y="1093005"/>
            <a:ext cx="594360" cy="886968"/>
          </a:xfrm>
          <a:prstGeom prst="rect">
            <a:avLst/>
          </a:prstGeom>
          <a:solidFill>
            <a:srgbClr val="0B1F4B"/>
          </a:solidFill>
          <a:ln w="12700">
            <a:noFill/>
            <a:prstDash val="solid"/>
          </a:ln>
        </p:spPr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5BA989E7-F15F-6F67-1760-AB2364E570EF}"/>
              </a:ext>
            </a:extLst>
          </p:cNvPr>
          <p:cNvSpPr/>
          <p:nvPr/>
        </p:nvSpPr>
        <p:spPr>
          <a:xfrm>
            <a:off x="4680106" y="2026266"/>
            <a:ext cx="594360" cy="886968"/>
          </a:xfrm>
          <a:prstGeom prst="rect">
            <a:avLst/>
          </a:prstGeom>
          <a:solidFill>
            <a:srgbClr val="D4A017"/>
          </a:solidFill>
          <a:ln w="12700">
            <a:noFill/>
            <a:prstDash val="solid"/>
          </a:ln>
        </p:spPr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E721A495-3D72-4BF2-BFAE-FA062C6EED31}"/>
              </a:ext>
            </a:extLst>
          </p:cNvPr>
          <p:cNvSpPr/>
          <p:nvPr/>
        </p:nvSpPr>
        <p:spPr>
          <a:xfrm>
            <a:off x="4775840" y="21914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48BAC2CD-A718-D277-E9DC-9F7016A4C1A5}"/>
              </a:ext>
            </a:extLst>
          </p:cNvPr>
          <p:cNvSpPr/>
          <p:nvPr/>
        </p:nvSpPr>
        <p:spPr>
          <a:xfrm>
            <a:off x="4772026" y="12728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86F694D0-2347-833A-45C7-24C533199BBB}"/>
              </a:ext>
            </a:extLst>
          </p:cNvPr>
          <p:cNvSpPr/>
          <p:nvPr/>
        </p:nvSpPr>
        <p:spPr>
          <a:xfrm>
            <a:off x="414814" y="2188273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78AE06A5-AE6F-85FB-10E4-BF041EDC5640}"/>
              </a:ext>
            </a:extLst>
          </p:cNvPr>
          <p:cNvSpPr/>
          <p:nvPr/>
        </p:nvSpPr>
        <p:spPr>
          <a:xfrm>
            <a:off x="421957" y="123401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0A8C0959-3F48-475D-57AF-4B90E2C43A76}"/>
              </a:ext>
            </a:extLst>
          </p:cNvPr>
          <p:cNvSpPr/>
          <p:nvPr/>
        </p:nvSpPr>
        <p:spPr>
          <a:xfrm>
            <a:off x="1938815" y="148025"/>
            <a:ext cx="5186369" cy="32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01 | About the Dataset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82880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4B"/>
                </a:solidFill>
              </a:rPr>
              <a:t>271,116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</a:rPr>
              <a:t>Athlete Records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82880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201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</a:rPr>
              <a:t>Countries / NOCs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182880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4B"/>
                </a:solidFill>
              </a:rPr>
              <a:t>120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</a:rPr>
              <a:t>Years of History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675120" y="960120"/>
            <a:ext cx="1828800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66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</a:rPr>
              <a:t>Olympic Sports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65760" y="2011680"/>
            <a:ext cx="4114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011680"/>
            <a:ext cx="411480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299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Athlete Events Dataset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24231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📄 athlete_events.csv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271,116 rows × 15 columns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Coverage: 1896 → 2016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Fields: Name, Sex, Age, Height, Weight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Team, NOC, Year, Season, Sport, Event, Medal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230 unique NOCs | 66 Sports | 2 Seasons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4114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011680"/>
            <a:ext cx="411480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299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B"/>
                </a:solidFill>
              </a:rPr>
              <a:t>Country Economics Dataset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📄 country_economics.csv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201 rows × 4 columns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Fields: Country, Code, Population, GDP per Capita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12.4% missing GDP values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2.5% missing population values</a:t>
            </a:r>
            <a:endParaRPr lang="en-US" sz="1600" dirty="0"/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</a:rPr>
              <a:t>8 territory entries (flagged with *)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Key Derived Variables: BMI, Won_Medal (0/1), GDP_Tier (Low/Mid/High), Log_Population, Medal_Rate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02 | Purpose of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07008"/>
            <a:ext cx="2423160" cy="62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🔍 Understand Performance Drivers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488" y="177022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Identify which economic, demographic &amp; athlete-level factors correlate with Olympic medal success across nations.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49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📊 Uncover Historical Patterns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55848" y="17630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Trace how Olympic participation, gender diversity and medal dominance evolved from 1896 to 2016.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49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🌍 Country-Level Benchmarking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36208" y="17630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Compare nations on medal efficiency (medals per athlete) to separate resource advantages from systemic sports development.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26517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India-Specific Insights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488" y="3611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Understand India's Olympic underperformance relative to its population size and growing GDP — and identify gaps.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17520"/>
            <a:ext cx="26517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162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📋 Policy-Relevant Outcomes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55848" y="3611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Generate actionable insights for policymakers, sports federations and corporate sponsors to improve athlete outcomes.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170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💡 Data Quality Demonstration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36208" y="3611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Showcase best practices in data cleaning, feature engineering and exploratory analysis on real-world messy datasets.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03 | Data Cleaning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24712"/>
            <a:ext cx="347472" cy="347472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" y="1472184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808" y="1029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Territory Flagging &amp; Strip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7240" y="133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Detected 8 entries with asterisks (*) indicating territories. Created Is_Territory binary flag, then removed asterisks from country names.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73352"/>
            <a:ext cx="347472" cy="347472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" y="2020824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096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Population Imputation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7240" y="1901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5 missing population values imputed using the overall dataset median (7,450,124) — preserving central tendency without distortion.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221992"/>
            <a:ext cx="347472" cy="347472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" y="2569464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664" y="2219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GDP Group-Median Imputation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952" y="2457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25 missing GDP values filled using group-specific medians: $5,232 for countries, $42,328 for territories — accounting for structural differences.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770632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" y="3118104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808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Duplicate Removal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5808" y="29992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1,385 exact duplicate athlete rows removed from athlete_events.csv. Dataset reduced from 271,116 → 269,731 rows.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319272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" y="3666744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952" y="3288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Medal NaN → 'No Medal'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5808" y="3540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All null Medal values replaced with 'No Medal' string — enabling category-level analysis including non-winners.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867912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" y="4215384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59" y="3844480"/>
            <a:ext cx="3541871" cy="226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Numerical Imputation (Age/Height/Weight)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8672" y="40822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Median imputation: Age → 24, Height → 175cm, Weight → 70kg. IQR outlier detection flagged 11,059 age outliers (range: 10–97), retained for authenticity.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416552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4384" y="4407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7240" y="46451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Created: BMI, Won_Medal (0/1), GDP_Tier (4 bins), Log_Population, Medal_Rate (medals/athletes) for richer analysis.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04 | Data Analysis — Steps &amp;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1691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Descriptive Statistics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</a:rPr>
              <a:t>Computed mean, median, std for Age, Height, Weight, BMI by Season &amp; Gender.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457200" cy="169164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12618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Distribution Analysis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9476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</a:rPr>
              <a:t>Histograms with mean/median lines for all physical attributes. BMI trimmed to 15–50.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457200" cy="1691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1204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Medal Breakdown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7512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</a:rPr>
              <a:t>Frequency counts and pie chart of Gold/Silver/Bronze distribution across all athletes.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71800"/>
            <a:ext cx="457200" cy="169164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1363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Sports &amp; Gender 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440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</a:rPr>
              <a:t>Top 20 sports by entries; gender proportion stacked bar for top 15 sports.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971800"/>
            <a:ext cx="457200" cy="1691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94760" y="31363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Time-Series Analysis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9476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Gender trends 1896–2016; medal dominance over time for top 6 nations; participation growth.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29718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971800"/>
            <a:ext cx="457200" cy="169164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83680" y="3072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4B"/>
                </a:solidFill>
              </a:rPr>
              <a:t>Economics × Performance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</a:rPr>
              <a:t>Merged athlete data with country GDP/Population. Bubble chart: GDP per capita vs total medals.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Athlete Physical Attribute Distributions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" y="901828"/>
            <a:ext cx="8843963" cy="26197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7156" y="3630168"/>
            <a:ext cx="8872538" cy="14218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4306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50040" y="39090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Mean age ≈ 25.5 years; right-skewed due to veteran Olympians aged 60–97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Height: roughly normal at ~175cm mean; Weight: slight right skew (~70kg mean)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BMI peaks at 22–24 — typical healthy athletic range; outliers from heavy sports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Medal Distribution (All-Time)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4" y="935544"/>
            <a:ext cx="8729663" cy="25566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0025" y="3575304"/>
            <a:ext cx="8729663" cy="13624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1" y="3655885"/>
            <a:ext cx="8559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Gold, Silver &amp; Bronze are nearly equally distributed (~33% each) among medal winners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Vast majority of athlete-entries (&gt;85%) receive no medal — reflecting high competition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Sports Participation &amp; Gender Split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859536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07193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Athletics, Gymnastics &amp; Swimming dominate total athlete entries by a large margin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Women's share in sports grew significantly post-1984 reforms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Medal Breakdown: Top 10 Nations (All-Time)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05256"/>
            <a:ext cx="8595360" cy="27363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714750"/>
            <a:ext cx="8595360" cy="125044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3771046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USA leads all-time with the most Gold medals.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China (CHN) entered the top 10 only after 1984, showing rapid sports development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India (IND) does not appear in this top 10 — a major gap for a country of its population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Gender Equality in the Summer Olympics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05256"/>
            <a:ext cx="8595360" cy="2980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950208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Women were virtually absent until 1920s; IOC inclusion reforms accelerated from 1970s onward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Female athletes reached ~45% of total Summer Olympics participants by 2016.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Medal Dominance: Top 6 Nations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08622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Post-1992: China's rapid rise in Summer medals reflects its state-led sports investment model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Dip in 1980 (USA boycott) &amp; 1984 (Soviet boycott) visible in the trends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05 | Economics × Performance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r="17154"/>
          <a:stretch>
            <a:fillRect/>
          </a:stretch>
        </p:blipFill>
        <p:spPr>
          <a:xfrm>
            <a:off x="-1" y="905255"/>
            <a:ext cx="6443663" cy="41682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93356" y="1389888"/>
            <a:ext cx="4967763" cy="2417731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59780" y="1475612"/>
            <a:ext cx="4967764" cy="2246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Strong positive correlation between GDP/capita &amp; medal count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USA: high GDP + huge population = top-right outlier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Small rich nations have high medal rate but modest totals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4A5568"/>
                </a:solidFill>
              </a:rPr>
              <a:t>India: large bubble (population) but very low medals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6194EF-BD09-F3F7-6CE9-ECF7130A0A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84" t="8080" r="4406" b="10920"/>
          <a:stretch>
            <a:fillRect/>
          </a:stretch>
        </p:blipFill>
        <p:spPr>
          <a:xfrm>
            <a:off x="6865143" y="3950494"/>
            <a:ext cx="1714501" cy="964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06 | India's Olympic Performance vs Global Peers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43063" y="960120"/>
            <a:ext cx="1678778" cy="82296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56624" y="960120"/>
            <a:ext cx="1874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4B"/>
                </a:solidFill>
              </a:rPr>
              <a:t>35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269480" y="1425321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Total Medals</a:t>
            </a: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(1900–2016)</a:t>
            </a: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582289"/>
              </p:ext>
            </p:extLst>
          </p:nvPr>
        </p:nvGraphicFramePr>
        <p:xfrm>
          <a:off x="225381" y="960120"/>
          <a:ext cx="6965160" cy="3072384"/>
        </p:xfrm>
        <a:graphic>
          <a:graphicData uri="http://schemas.openxmlformats.org/drawingml/2006/table">
            <a:tbl>
              <a:tblPr/>
              <a:tblGrid>
                <a:gridCol w="139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Medals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Medals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Medal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GDP/Capita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🇺🇸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🇨🇳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Russia/URS 🇷🇺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 🇦🇺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🇮🇳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 (then)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Kenya 🇰🇪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Jamaica 🇯🇲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280032" y="4135660"/>
            <a:ext cx="6965160" cy="751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C0392B"/>
                </a:solidFill>
              </a:rPr>
              <a:t>⚠️ India's medal rate (0.006) is among the lowest globally — Kenya and Jamaica, with far smaller populations &amp; lower GDPs, outperform India significantly.</a:t>
            </a:r>
            <a:endParaRPr lang="en-US" sz="16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CBD70BF0-2225-FF98-D616-9C09E7108F1E}"/>
              </a:ext>
            </a:extLst>
          </p:cNvPr>
          <p:cNvSpPr/>
          <p:nvPr/>
        </p:nvSpPr>
        <p:spPr>
          <a:xfrm>
            <a:off x="7354495" y="1970532"/>
            <a:ext cx="1678778" cy="82296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5EAC0E8E-58DC-7A22-EEE7-448A96E78F86}"/>
              </a:ext>
            </a:extLst>
          </p:cNvPr>
          <p:cNvSpPr/>
          <p:nvPr/>
        </p:nvSpPr>
        <p:spPr>
          <a:xfrm>
            <a:off x="7354495" y="3044952"/>
            <a:ext cx="1678778" cy="82296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FBC8DE54-D213-B3F4-498E-55A235CA249A}"/>
              </a:ext>
            </a:extLst>
          </p:cNvPr>
          <p:cNvSpPr/>
          <p:nvPr/>
        </p:nvSpPr>
        <p:spPr>
          <a:xfrm>
            <a:off x="7354495" y="4053935"/>
            <a:ext cx="1678778" cy="82296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9"/>
          <p:cNvSpPr/>
          <p:nvPr/>
        </p:nvSpPr>
        <p:spPr>
          <a:xfrm>
            <a:off x="7343063" y="239272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Gold Medals</a:t>
            </a: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(All-time)</a:t>
            </a:r>
          </a:p>
        </p:txBody>
      </p:sp>
      <p:sp>
        <p:nvSpPr>
          <p:cNvPr id="24" name="Text 8"/>
          <p:cNvSpPr/>
          <p:nvPr/>
        </p:nvSpPr>
        <p:spPr>
          <a:xfrm>
            <a:off x="7269480" y="1920240"/>
            <a:ext cx="1874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</a:rPr>
              <a:t>10</a:t>
            </a:r>
            <a:endParaRPr lang="en-US" sz="2800" dirty="0"/>
          </a:p>
        </p:txBody>
      </p:sp>
      <p:sp>
        <p:nvSpPr>
          <p:cNvPr id="25" name="Text 15"/>
          <p:cNvSpPr/>
          <p:nvPr/>
        </p:nvSpPr>
        <p:spPr>
          <a:xfrm>
            <a:off x="7343063" y="4481417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(World's largest)</a:t>
            </a:r>
          </a:p>
        </p:txBody>
      </p:sp>
      <p:sp>
        <p:nvSpPr>
          <p:cNvPr id="26" name="Text 14"/>
          <p:cNvSpPr/>
          <p:nvPr/>
        </p:nvSpPr>
        <p:spPr>
          <a:xfrm>
            <a:off x="7343063" y="4033647"/>
            <a:ext cx="1874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8A4E"/>
                </a:solidFill>
              </a:rPr>
              <a:t>#1.4B</a:t>
            </a:r>
            <a:endParaRPr lang="en-US" sz="2800" dirty="0"/>
          </a:p>
        </p:txBody>
      </p:sp>
      <p:sp>
        <p:nvSpPr>
          <p:cNvPr id="27" name="Text 12"/>
          <p:cNvSpPr/>
          <p:nvPr/>
        </p:nvSpPr>
        <p:spPr>
          <a:xfrm>
            <a:off x="7256624" y="348057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Medal Rate</a:t>
            </a: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(medals/athlete)</a:t>
            </a:r>
          </a:p>
        </p:txBody>
      </p:sp>
      <p:sp>
        <p:nvSpPr>
          <p:cNvPr id="28" name="Text 11"/>
          <p:cNvSpPr/>
          <p:nvPr/>
        </p:nvSpPr>
        <p:spPr>
          <a:xfrm>
            <a:off x="7245192" y="3027950"/>
            <a:ext cx="1874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0.006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06 | India — Sport-Wise Medal Breakdown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4B"/>
                </a:solidFill>
              </a:rPr>
              <a:t>Field Hockey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68880" y="1271016"/>
            <a:ext cx="594360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85632" y="12344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</a:rPr>
              <a:t>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384" y="1234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/>
              <a:t>Dominant (8 Golds)  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755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4B"/>
                </a:solidFill>
              </a:rPr>
              <a:t>Wrestling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68880" y="1792224"/>
            <a:ext cx="713232" cy="20116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7556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36419" y="1755648"/>
            <a:ext cx="27760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</a:rPr>
              <a:t>Recent (KD Jadhav, Sushil, Bajrang)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18541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2768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4B"/>
                </a:solidFill>
              </a:rPr>
              <a:t>Shooting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68880" y="2313432"/>
            <a:ext cx="713232" cy="20116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22768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53129" y="2276856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</a:rPr>
              <a:t>Recent (Manu </a:t>
            </a:r>
            <a:r>
              <a:rPr lang="en-US" sz="1400" dirty="0" err="1">
                <a:solidFill>
                  <a:srgbClr val="6B7280"/>
                </a:solidFill>
              </a:rPr>
              <a:t>Bhaker</a:t>
            </a:r>
            <a:r>
              <a:rPr lang="en-US" sz="1400" dirty="0">
                <a:solidFill>
                  <a:srgbClr val="6B7280"/>
                </a:solidFill>
              </a:rPr>
              <a:t>, </a:t>
            </a:r>
            <a:r>
              <a:rPr lang="en-US" sz="1400" dirty="0" err="1">
                <a:solidFill>
                  <a:srgbClr val="6B7280"/>
                </a:solidFill>
              </a:rPr>
              <a:t>Sarabjot</a:t>
            </a:r>
            <a:r>
              <a:rPr lang="en-US" sz="1400" dirty="0">
                <a:solidFill>
                  <a:srgbClr val="6B7280"/>
                </a:solidFill>
              </a:rPr>
              <a:t> Singh, Swapnil </a:t>
            </a:r>
            <a:r>
              <a:rPr lang="en-US" sz="1400" dirty="0" err="1">
                <a:solidFill>
                  <a:srgbClr val="6B7280"/>
                </a:solidFill>
              </a:rPr>
              <a:t>Kusale</a:t>
            </a:r>
            <a:r>
              <a:rPr lang="en-US" sz="1400" dirty="0">
                <a:solidFill>
                  <a:srgbClr val="6B7280"/>
                </a:solidFill>
              </a:rPr>
              <a:t>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70662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798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4B"/>
                </a:solidFill>
              </a:rPr>
              <a:t>Boxing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468880" y="2834640"/>
            <a:ext cx="237744" cy="20116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9776" y="27980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798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</a:rPr>
              <a:t>Mary Kom — 2012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22783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319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4B"/>
                </a:solidFill>
              </a:rPr>
              <a:t>Athletics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68880" y="3355848"/>
            <a:ext cx="237744" cy="20116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9776" y="3319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5075" y="3319272"/>
            <a:ext cx="2097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</a:rPr>
              <a:t>Norman Pritchard — 1900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376732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840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4B"/>
                </a:solidFill>
              </a:rPr>
              <a:t>Badminton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468880" y="3877056"/>
            <a:ext cx="237744" cy="201168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9776" y="38404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56832" y="385705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</a:rPr>
              <a:t>Saina/Sindhu — 2012/16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20040" y="4499705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0392B"/>
                </a:solidFill>
              </a:rPr>
              <a:t>⚠️  71% of India's all-time medals come from a single sport — Field Hockey. Post-1980, India's hockey dominance collapsed, exposing deep structural dependence.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06 | What This Analysis Tells Us About India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Q: Is India's poor performance about poverty?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081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A: Partially. India's historical GDP/capita was low, but nations like Jamaica ($5K GDP) and Kenya ($1.4K GDP) vastly outperform India per capita. Economics alone cannot explain the gap.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65376"/>
            <a:ext cx="64008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11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Q: Is it a population problem (too many, too diverse)?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A: No — China has a comparable scale and leads the world. India's problem is lack of targeted talent identification and development pipelines, not population scale.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33472"/>
            <a:ext cx="64008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79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Q: Is it a sports culture issue?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A: Yes — cricket absorbs 80%+ of all corporate sponsorship, media attention and youth aspiration. Olympic sports operate in a funding vacuum with minimal public visibility.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3401568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01568"/>
            <a:ext cx="64008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47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Q: What does the medal rate reveal?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7124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A: India's 0.006 medal rate (6 medals per 1,000 athletes) is among the world's worst. Nations with smaller delegations convert a far higher % of participants to medal winners.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4169664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169664"/>
            <a:ext cx="64008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15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Q: What is the structural root cause?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A: Post-1980 collapse of hockey dominance was never compensated by investment in other sports. No systematic state sports model (unlike China, Cuba or Kenya) exists in India.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F56A-FE42-641D-5ADD-1D35F5E3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DA36C9-902D-3DBE-AF6C-57BEB9252A1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B6AF54-F9B4-206C-CD66-9FF8DD678663}"/>
              </a:ext>
            </a:extLst>
          </p:cNvPr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A547D8-784D-B92B-10A0-A270B4969DDC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07 | Medal Prediction Model</a:t>
            </a:r>
            <a:endParaRPr lang="en-US" sz="3200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4B2BDBD-5693-DA00-E28B-1ED9BC9D7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13815"/>
            <a:ext cx="9144001" cy="4329685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DC6F1D43-8205-EE06-66F5-F4F80719F891}"/>
              </a:ext>
            </a:extLst>
          </p:cNvPr>
          <p:cNvSpPr/>
          <p:nvPr/>
        </p:nvSpPr>
        <p:spPr>
          <a:xfrm>
            <a:off x="2714625" y="2082546"/>
            <a:ext cx="6279356" cy="1881379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39C40AF-2227-F2A5-79AD-DA832BF5D307}"/>
              </a:ext>
            </a:extLst>
          </p:cNvPr>
          <p:cNvSpPr/>
          <p:nvPr/>
        </p:nvSpPr>
        <p:spPr>
          <a:xfrm>
            <a:off x="2714625" y="2119122"/>
            <a:ext cx="6279356" cy="103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Tx/>
              <a:buChar char="•"/>
            </a:pPr>
            <a:r>
              <a:rPr lang="en-US" dirty="0">
                <a:solidFill>
                  <a:srgbClr val="4A5568"/>
                </a:solidFill>
              </a:rPr>
              <a:t> Country Historical Medal Rate (45.3%) — strongest signal: elite nations consistently produce elite athletes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dirty="0">
                <a:solidFill>
                  <a:srgbClr val="4A5568"/>
                </a:solidFill>
              </a:rPr>
              <a:t> Sport Historical Medal Rate (27.9%) — sport selection is the second-biggest predictor of medal probability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dirty="0">
                <a:solidFill>
                  <a:srgbClr val="4A5568"/>
                </a:solidFill>
              </a:rPr>
              <a:t> Biometrics (BMI, Weight, Height, Age) each contribute ~4–5% — important but secondary to contextual factors</a:t>
            </a:r>
          </a:p>
          <a:p>
            <a:pPr marL="342900" indent="-342900">
              <a:buSzPct val="100000"/>
              <a:buFontTx/>
              <a:buChar char="•"/>
            </a:pPr>
            <a:endParaRPr lang="en-US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746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4EE2-972D-E56B-C3CF-0D992E8FE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291663-D7FD-A524-6ECD-FADC2D60DAB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1EAF3C-C5DB-5A7B-75A2-1D1A7F306837}"/>
              </a:ext>
            </a:extLst>
          </p:cNvPr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682AB1-A2E1-8559-F631-9BD74170F00C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07 | Medal Prediction Model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980313-D96F-51B0-383A-2EC4CA131120}"/>
              </a:ext>
            </a:extLst>
          </p:cNvPr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" y="841676"/>
            <a:ext cx="4344829" cy="2830212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0B81B396-37AC-D3C6-C2E3-4C056D2D2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70" y="841676"/>
            <a:ext cx="4407692" cy="2830212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2DE8DD-9E58-6E37-50B9-D7272CB4F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165621"/>
              </p:ext>
            </p:extLst>
          </p:nvPr>
        </p:nvGraphicFramePr>
        <p:xfrm>
          <a:off x="71438" y="3676457"/>
          <a:ext cx="9001124" cy="167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6046">
                  <a:extLst>
                    <a:ext uri="{9D8B030D-6E8A-4147-A177-3AD203B41FA5}">
                      <a16:colId xmlns:a16="http://schemas.microsoft.com/office/drawing/2014/main" val="1481022517"/>
                    </a:ext>
                  </a:extLst>
                </a:gridCol>
                <a:gridCol w="4585078">
                  <a:extLst>
                    <a:ext uri="{9D8B030D-6E8A-4147-A177-3AD203B41FA5}">
                      <a16:colId xmlns:a16="http://schemas.microsoft.com/office/drawing/2014/main" val="1471078895"/>
                    </a:ext>
                  </a:extLst>
                </a:gridCol>
              </a:tblGrid>
              <a:tr h="5392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A1628"/>
                          </a:solidFill>
                        </a:rPr>
                        <a:t>✅ True Negatives: 33,250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4A5568"/>
                          </a:solidFill>
                        </a:rPr>
                        <a:t>Correctly predicted No Medal-72% of actual non-winners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A1628"/>
                          </a:solidFill>
                        </a:rPr>
                        <a:t>✅ True Positives: 5,934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4A5568"/>
                          </a:solidFill>
                        </a:rPr>
                        <a:t>Correctly predicted Medal — 74.6% of actual medal winners caught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135220"/>
                  </a:ext>
                </a:extLst>
              </a:tr>
              <a:tr h="599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A1628"/>
                          </a:solidFill>
                        </a:rPr>
                        <a:t>⚠ False Positives: 12,742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4A5568"/>
                          </a:solidFill>
                        </a:rPr>
                        <a:t>Predicted Medal but got none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A1628"/>
                          </a:solidFill>
                        </a:rPr>
                        <a:t>⚠ False Negatives: 2,021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4A5568"/>
                          </a:solidFill>
                        </a:rPr>
                        <a:t>Missed winners — only 25.4% of winners slipped through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075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840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08 | Key Conclusions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19659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💰 GDP Drives Medals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Strong positive correlation between GDP per capita and all-time medal count. Wealthy nations invest more in athlete development systems.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19659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20700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4B"/>
                </a:solidFill>
              </a:rPr>
              <a:t>⚖️ Quality &gt; Scale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60320" y="16459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Small high-income nations (Scandinavia, Eastern Europe) show higher medal rates per athlete than large but lower-income countries.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97280"/>
            <a:ext cx="19659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2855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👩 Gender Parity Progress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09160" y="169592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Female participation rose from near-zero in 1896 to ~45% by 2016, driven by IOC policy reforms. Still ~5% short of parity.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09728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97280"/>
            <a:ext cx="1965960" cy="73152"/>
          </a:xfrm>
          <a:prstGeom prst="rect">
            <a:avLst/>
          </a:prstGeom>
          <a:solidFill>
            <a:srgbClr val="0B1F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9424" y="12784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B"/>
                </a:solidFill>
              </a:rPr>
              <a:t>🏆 USA's Sustained Dominance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58000" y="1710216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The USA leads all-time Summer Olympic medals, sustained by private sports infrastructure, college athletics and diverse talent pipelines.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17520"/>
            <a:ext cx="19659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272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🇨🇳 China's Rapid Rise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1480" y="35661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Post-1984 investment in targeted high-medal sports (diving, gymnastics, weightlifting) made China the #2 Summer power by 2008 Beijing.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3017520"/>
            <a:ext cx="19659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1272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</a:rPr>
              <a:t>🇮🇳 India's Chronic Gap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0320" y="35661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Despite 1.4B population, India has won only 35 Olympics medals — 71% from hockey alone. Medal rate is among the world's lowest.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017520"/>
            <a:ext cx="19659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1272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B"/>
                </a:solidFill>
              </a:rPr>
              <a:t>🏋️ Physical Profiles Matter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09160" y="35661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BMI and sport match significantly affect medal probability. Sports-specific training programs need physical profiling from youth level.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3017520"/>
            <a:ext cx="1965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3017520"/>
            <a:ext cx="19659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1272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B"/>
                </a:solidFill>
              </a:rPr>
              <a:t>📉 Post-1980 Hockey Collapse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35661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India's switch from natural grass to artificial turf in 1980 eliminated its key competitive advantage, causing a multi-decade medal drought.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F2D2-DCB0-48BF-64ED-BE2F3F24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A530E9-F5E6-6F7D-2638-797F650BEA5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BD8CEB-601E-609E-8370-4583F6CDC05F}"/>
              </a:ext>
            </a:extLst>
          </p:cNvPr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252DAC-BF69-A315-4B80-4823C6900FD3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09 | Policy Implications</a:t>
            </a:r>
            <a:endParaRPr lang="en-US" sz="3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858224-8341-7952-FE26-82B5372BF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960811"/>
              </p:ext>
            </p:extLst>
          </p:nvPr>
        </p:nvGraphicFramePr>
        <p:xfrm>
          <a:off x="207169" y="1103044"/>
          <a:ext cx="8616791" cy="34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087">
                  <a:extLst>
                    <a:ext uri="{9D8B030D-6E8A-4147-A177-3AD203B41FA5}">
                      <a16:colId xmlns:a16="http://schemas.microsoft.com/office/drawing/2014/main" val="1521674119"/>
                    </a:ext>
                  </a:extLst>
                </a:gridCol>
                <a:gridCol w="7196822">
                  <a:extLst>
                    <a:ext uri="{9D8B030D-6E8A-4147-A177-3AD203B41FA5}">
                      <a16:colId xmlns:a16="http://schemas.microsoft.com/office/drawing/2014/main" val="1600745037"/>
                    </a:ext>
                  </a:extLst>
                </a:gridCol>
                <a:gridCol w="955882">
                  <a:extLst>
                    <a:ext uri="{9D8B030D-6E8A-4147-A177-3AD203B41FA5}">
                      <a16:colId xmlns:a16="http://schemas.microsoft.com/office/drawing/2014/main" val="1202740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2060"/>
                          </a:solidFill>
                        </a:rPr>
                        <a:t>Sports Budget Increase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Raise sports ministry allocation to 0.5–1% of GDP. Benchmark: China spends ~$500M annually on elite athlete programs alone.</a:t>
                      </a:r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0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002060"/>
                          </a:solidFill>
                        </a:rPr>
                        <a:t>TOPS Expansion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Scale up Target Olympic Podium Scheme (TOPS) from ~250 to 2,500 athletes. Include grassroots identification, not just established names.</a:t>
                      </a:r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33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002060"/>
                          </a:solidFill>
                        </a:rPr>
                        <a:t>Sport Diversification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Reduce dependence on Hockey. Invest heavily in Shooting, Wrestling, Badminton, Athletics &amp; Boxing where India shows emerging talent.</a:t>
                      </a:r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3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002060"/>
                          </a:solidFill>
                        </a:rPr>
                        <a:t>Gender Inclusion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Mandate 40% female participation funding in all national sports bodies. India's female medal share is below even global developing-nation averages.</a:t>
                      </a:r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42832"/>
                  </a:ext>
                </a:extLst>
              </a:tr>
            </a:tbl>
          </a:graphicData>
        </a:graphic>
      </p:graphicFrame>
      <p:sp>
        <p:nvSpPr>
          <p:cNvPr id="48" name="Shape 4"/>
          <p:cNvSpPr/>
          <p:nvPr/>
        </p:nvSpPr>
        <p:spPr>
          <a:xfrm>
            <a:off x="275748" y="3021664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89F82D89-E76D-AC38-ADB7-FEC0591E26F9}"/>
              </a:ext>
            </a:extLst>
          </p:cNvPr>
          <p:cNvSpPr/>
          <p:nvPr/>
        </p:nvSpPr>
        <p:spPr>
          <a:xfrm>
            <a:off x="275748" y="1343214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F6E34DFD-3FDF-80CC-BAA9-DAC2F394EE81}"/>
              </a:ext>
            </a:extLst>
          </p:cNvPr>
          <p:cNvSpPr/>
          <p:nvPr/>
        </p:nvSpPr>
        <p:spPr>
          <a:xfrm>
            <a:off x="275748" y="3892964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F8632954-897A-F116-8CD1-667FEBF69F01}"/>
              </a:ext>
            </a:extLst>
          </p:cNvPr>
          <p:cNvSpPr/>
          <p:nvPr/>
        </p:nvSpPr>
        <p:spPr>
          <a:xfrm>
            <a:off x="275748" y="2166605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4F3B339E-5830-69A6-A093-3718AAA16032}"/>
              </a:ext>
            </a:extLst>
          </p:cNvPr>
          <p:cNvSpPr/>
          <p:nvPr/>
        </p:nvSpPr>
        <p:spPr>
          <a:xfrm>
            <a:off x="275748" y="134883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09AE08A3-3912-E71C-C5E7-5A75C5F75499}"/>
              </a:ext>
            </a:extLst>
          </p:cNvPr>
          <p:cNvSpPr/>
          <p:nvPr/>
        </p:nvSpPr>
        <p:spPr>
          <a:xfrm>
            <a:off x="275748" y="216660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716092BE-0272-231C-40F8-618017AF2847}"/>
              </a:ext>
            </a:extLst>
          </p:cNvPr>
          <p:cNvSpPr/>
          <p:nvPr/>
        </p:nvSpPr>
        <p:spPr>
          <a:xfrm>
            <a:off x="275748" y="303259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DDCD1885-9380-EBE1-DB8B-96B36EC69A82}"/>
              </a:ext>
            </a:extLst>
          </p:cNvPr>
          <p:cNvSpPr/>
          <p:nvPr/>
        </p:nvSpPr>
        <p:spPr>
          <a:xfrm>
            <a:off x="275748" y="38950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671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566B-D75D-33EE-B865-5E2BF42E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43826A-07CA-E335-C78E-D1492042839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953957-9B23-29DD-C42B-BED811F789CC}"/>
              </a:ext>
            </a:extLst>
          </p:cNvPr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9DC32A-6658-3C44-924F-F31CFBBFA4AC}"/>
              </a:ext>
            </a:extLst>
          </p:cNvPr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09 | Policy Implications</a:t>
            </a:r>
            <a:endParaRPr lang="en-US" sz="3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9533F7-FBE9-7229-3960-A0BB58D9D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294729"/>
              </p:ext>
            </p:extLst>
          </p:nvPr>
        </p:nvGraphicFramePr>
        <p:xfrm>
          <a:off x="435768" y="1503234"/>
          <a:ext cx="8616791" cy="293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087">
                  <a:extLst>
                    <a:ext uri="{9D8B030D-6E8A-4147-A177-3AD203B41FA5}">
                      <a16:colId xmlns:a16="http://schemas.microsoft.com/office/drawing/2014/main" val="1521674119"/>
                    </a:ext>
                  </a:extLst>
                </a:gridCol>
                <a:gridCol w="7196822">
                  <a:extLst>
                    <a:ext uri="{9D8B030D-6E8A-4147-A177-3AD203B41FA5}">
                      <a16:colId xmlns:a16="http://schemas.microsoft.com/office/drawing/2014/main" val="1600745037"/>
                    </a:ext>
                  </a:extLst>
                </a:gridCol>
                <a:gridCol w="955882">
                  <a:extLst>
                    <a:ext uri="{9D8B030D-6E8A-4147-A177-3AD203B41FA5}">
                      <a16:colId xmlns:a16="http://schemas.microsoft.com/office/drawing/2014/main" val="1202740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B1F4B"/>
                          </a:solidFill>
                        </a:rPr>
                        <a:t>Physical Profiling Programs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Institute nationwide BMI and physical attribute profiling at school level to identify and route children to sports aligned with their physique.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0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0B1F4B"/>
                          </a:solidFill>
                        </a:rPr>
                        <a:t>Corporate Sponsorship Incentives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rgbClr val="4A5568"/>
                          </a:solidFill>
                        </a:rPr>
                        <a:t>Offer CSR tax incentives for corporate sports sponsorship. Create public-private athlete academies on the Kenya / Jamaica community model.</a:t>
                      </a:r>
                      <a:endParaRPr lang="en-US" sz="1600" b="1" kern="1200" dirty="0">
                        <a:solidFill>
                          <a:srgbClr val="4A556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33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0B1F4B"/>
                          </a:solidFill>
                        </a:rPr>
                        <a:t>Infrastructure Modernization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rgbClr val="4A5568"/>
                          </a:solidFill>
                        </a:rPr>
                        <a:t>Build sport-specific modern training centers in Tier 2/3 cities. India loses talent because athletes cannot afford to relocate to metro facilities.</a:t>
                      </a:r>
                      <a:endParaRPr lang="en-US" sz="1600" b="1" kern="1200" dirty="0">
                        <a:solidFill>
                          <a:srgbClr val="4A556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3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42832"/>
                  </a:ext>
                </a:extLst>
              </a:tr>
            </a:tbl>
          </a:graphicData>
        </a:graphic>
      </p:graphicFrame>
      <p:sp>
        <p:nvSpPr>
          <p:cNvPr id="48" name="Shape 4">
            <a:extLst>
              <a:ext uri="{FF2B5EF4-FFF2-40B4-BE49-F238E27FC236}">
                <a16:creationId xmlns:a16="http://schemas.microsoft.com/office/drawing/2014/main" id="{7805670F-B110-512F-D72D-5F0C89143D9B}"/>
              </a:ext>
            </a:extLst>
          </p:cNvPr>
          <p:cNvSpPr/>
          <p:nvPr/>
        </p:nvSpPr>
        <p:spPr>
          <a:xfrm>
            <a:off x="490061" y="3493132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DE8A43C7-0A81-D7F8-F60A-0CA767AAD8DB}"/>
              </a:ext>
            </a:extLst>
          </p:cNvPr>
          <p:cNvSpPr/>
          <p:nvPr/>
        </p:nvSpPr>
        <p:spPr>
          <a:xfrm>
            <a:off x="490061" y="1712284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3B272246-03FF-993B-F277-5A11883F5160}"/>
              </a:ext>
            </a:extLst>
          </p:cNvPr>
          <p:cNvSpPr/>
          <p:nvPr/>
        </p:nvSpPr>
        <p:spPr>
          <a:xfrm>
            <a:off x="490061" y="261709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BF567B83-859B-CBDF-38A4-D731B4DDFF94}"/>
              </a:ext>
            </a:extLst>
          </p:cNvPr>
          <p:cNvSpPr/>
          <p:nvPr/>
        </p:nvSpPr>
        <p:spPr>
          <a:xfrm>
            <a:off x="490061" y="172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A6151534-6608-1E2D-F461-D269F0D7A048}"/>
              </a:ext>
            </a:extLst>
          </p:cNvPr>
          <p:cNvSpPr/>
          <p:nvPr/>
        </p:nvSpPr>
        <p:spPr>
          <a:xfrm>
            <a:off x="490061" y="3492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A1FF0D40-6BD8-408B-9978-24E4E20D01F2}"/>
              </a:ext>
            </a:extLst>
          </p:cNvPr>
          <p:cNvSpPr/>
          <p:nvPr/>
        </p:nvSpPr>
        <p:spPr>
          <a:xfrm>
            <a:off x="490061" y="260947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77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4453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90309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058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49" y="1568765"/>
            <a:ext cx="8936831" cy="7360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E6A3"/>
                </a:solidFill>
              </a:rPr>
              <a:t>Key Takeaway: India punches far below its weight at the Olympics — a solvable problem with targeted investment, sport diversification &amp; athlete-centric policy reform.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4158F1-1163-2D65-9182-756A6611B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67" y="2902077"/>
            <a:ext cx="3836193" cy="18246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2036</Words>
  <Application>Microsoft Office PowerPoint</Application>
  <PresentationFormat>On-screen Show (16:9)</PresentationFormat>
  <Paragraphs>298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Olympics Data Analysis — Corporate Presentation</dc:title>
  <dc:subject>PptxGenJS Presentation</dc:subject>
  <dc:creator>Olympics Data Analysis</dc:creator>
  <cp:lastModifiedBy>Gunjan Goyal</cp:lastModifiedBy>
  <cp:revision>6</cp:revision>
  <dcterms:created xsi:type="dcterms:W3CDTF">2026-04-18T05:33:39Z</dcterms:created>
  <dcterms:modified xsi:type="dcterms:W3CDTF">2026-04-20T07:09:53Z</dcterms:modified>
</cp:coreProperties>
</file>